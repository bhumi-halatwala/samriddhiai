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T Rounds Neue Bold" charset="1" panose="02000803020000020004"/>
      <p:regular r:id="rId18"/>
    </p:embeddedFont>
    <p:embeddedFont>
      <p:font typeface="TT Firs Neue Bold" charset="1" panose="02000803030000020004"/>
      <p:regular r:id="rId19"/>
    </p:embeddedFont>
    <p:embeddedFont>
      <p:font typeface="TT Firs Neue" charset="1" panose="0200050303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41469" y="7035024"/>
            <a:ext cx="3427579" cy="610379"/>
            <a:chOff x="0" y="0"/>
            <a:chExt cx="902737" cy="160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2737" cy="160758"/>
            </a:xfrm>
            <a:custGeom>
              <a:avLst/>
              <a:gdLst/>
              <a:ahLst/>
              <a:cxnLst/>
              <a:rect r="r" b="b" t="t" l="l"/>
              <a:pathLst>
                <a:path h="160758" w="902737">
                  <a:moveTo>
                    <a:pt x="80379" y="0"/>
                  </a:moveTo>
                  <a:lnTo>
                    <a:pt x="822358" y="0"/>
                  </a:lnTo>
                  <a:cubicBezTo>
                    <a:pt x="843676" y="0"/>
                    <a:pt x="864120" y="8468"/>
                    <a:pt x="879194" y="23542"/>
                  </a:cubicBezTo>
                  <a:cubicBezTo>
                    <a:pt x="894268" y="38616"/>
                    <a:pt x="902737" y="59061"/>
                    <a:pt x="902737" y="80379"/>
                  </a:cubicBezTo>
                  <a:lnTo>
                    <a:pt x="902737" y="80379"/>
                  </a:lnTo>
                  <a:cubicBezTo>
                    <a:pt x="902737" y="101697"/>
                    <a:pt x="894268" y="122142"/>
                    <a:pt x="879194" y="137216"/>
                  </a:cubicBezTo>
                  <a:cubicBezTo>
                    <a:pt x="864120" y="152290"/>
                    <a:pt x="843676" y="160758"/>
                    <a:pt x="822358" y="160758"/>
                  </a:cubicBezTo>
                  <a:lnTo>
                    <a:pt x="80379" y="160758"/>
                  </a:lnTo>
                  <a:cubicBezTo>
                    <a:pt x="59061" y="160758"/>
                    <a:pt x="38616" y="152290"/>
                    <a:pt x="23542" y="137216"/>
                  </a:cubicBezTo>
                  <a:cubicBezTo>
                    <a:pt x="8468" y="122142"/>
                    <a:pt x="0" y="101697"/>
                    <a:pt x="0" y="80379"/>
                  </a:cubicBezTo>
                  <a:lnTo>
                    <a:pt x="0" y="80379"/>
                  </a:lnTo>
                  <a:cubicBezTo>
                    <a:pt x="0" y="59061"/>
                    <a:pt x="8468" y="38616"/>
                    <a:pt x="23542" y="23542"/>
                  </a:cubicBezTo>
                  <a:cubicBezTo>
                    <a:pt x="38616" y="8468"/>
                    <a:pt x="59061" y="0"/>
                    <a:pt x="80379" y="0"/>
                  </a:cubicBezTo>
                  <a:close/>
                </a:path>
              </a:pathLst>
            </a:custGeom>
            <a:solidFill>
              <a:srgbClr val="004D6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02737" cy="19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723511"/>
            <a:ext cx="4778547" cy="610379"/>
            <a:chOff x="0" y="0"/>
            <a:chExt cx="1258547" cy="1607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8547" cy="160758"/>
            </a:xfrm>
            <a:custGeom>
              <a:avLst/>
              <a:gdLst/>
              <a:ahLst/>
              <a:cxnLst/>
              <a:rect r="r" b="b" t="t" l="l"/>
              <a:pathLst>
                <a:path h="160758" w="1258547">
                  <a:moveTo>
                    <a:pt x="80379" y="0"/>
                  </a:moveTo>
                  <a:lnTo>
                    <a:pt x="1178168" y="0"/>
                  </a:lnTo>
                  <a:cubicBezTo>
                    <a:pt x="1199486" y="0"/>
                    <a:pt x="1219931" y="8468"/>
                    <a:pt x="1235005" y="23542"/>
                  </a:cubicBezTo>
                  <a:cubicBezTo>
                    <a:pt x="1250079" y="38616"/>
                    <a:pt x="1258547" y="59061"/>
                    <a:pt x="1258547" y="80379"/>
                  </a:cubicBezTo>
                  <a:lnTo>
                    <a:pt x="1258547" y="80379"/>
                  </a:lnTo>
                  <a:cubicBezTo>
                    <a:pt x="1258547" y="101697"/>
                    <a:pt x="1250079" y="122142"/>
                    <a:pt x="1235005" y="137216"/>
                  </a:cubicBezTo>
                  <a:cubicBezTo>
                    <a:pt x="1219931" y="152290"/>
                    <a:pt x="1199486" y="160758"/>
                    <a:pt x="1178168" y="160758"/>
                  </a:cubicBezTo>
                  <a:lnTo>
                    <a:pt x="80379" y="160758"/>
                  </a:lnTo>
                  <a:cubicBezTo>
                    <a:pt x="59061" y="160758"/>
                    <a:pt x="38616" y="152290"/>
                    <a:pt x="23542" y="137216"/>
                  </a:cubicBezTo>
                  <a:cubicBezTo>
                    <a:pt x="8468" y="122142"/>
                    <a:pt x="0" y="101697"/>
                    <a:pt x="0" y="80379"/>
                  </a:cubicBezTo>
                  <a:lnTo>
                    <a:pt x="0" y="80379"/>
                  </a:lnTo>
                  <a:cubicBezTo>
                    <a:pt x="0" y="59061"/>
                    <a:pt x="8468" y="38616"/>
                    <a:pt x="23542" y="23542"/>
                  </a:cubicBezTo>
                  <a:cubicBezTo>
                    <a:pt x="38616" y="8468"/>
                    <a:pt x="59061" y="0"/>
                    <a:pt x="80379" y="0"/>
                  </a:cubicBezTo>
                  <a:close/>
                </a:path>
              </a:pathLst>
            </a:custGeom>
            <a:solidFill>
              <a:srgbClr val="004D6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58547" cy="19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723511"/>
            <a:ext cx="596574" cy="610379"/>
            <a:chOff x="0" y="0"/>
            <a:chExt cx="157122" cy="1607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7122" cy="160758"/>
            </a:xfrm>
            <a:custGeom>
              <a:avLst/>
              <a:gdLst/>
              <a:ahLst/>
              <a:cxnLst/>
              <a:rect r="r" b="b" t="t" l="l"/>
              <a:pathLst>
                <a:path h="160758" w="157122">
                  <a:moveTo>
                    <a:pt x="78561" y="0"/>
                  </a:moveTo>
                  <a:lnTo>
                    <a:pt x="78561" y="0"/>
                  </a:lnTo>
                  <a:cubicBezTo>
                    <a:pt x="121949" y="0"/>
                    <a:pt x="157122" y="35173"/>
                    <a:pt x="157122" y="78561"/>
                  </a:cubicBezTo>
                  <a:lnTo>
                    <a:pt x="157122" y="82197"/>
                  </a:lnTo>
                  <a:cubicBezTo>
                    <a:pt x="157122" y="125585"/>
                    <a:pt x="121949" y="160758"/>
                    <a:pt x="78561" y="160758"/>
                  </a:cubicBezTo>
                  <a:lnTo>
                    <a:pt x="78561" y="160758"/>
                  </a:lnTo>
                  <a:cubicBezTo>
                    <a:pt x="35173" y="160758"/>
                    <a:pt x="0" y="125585"/>
                    <a:pt x="0" y="82197"/>
                  </a:cubicBezTo>
                  <a:lnTo>
                    <a:pt x="0" y="78561"/>
                  </a:lnTo>
                  <a:cubicBezTo>
                    <a:pt x="0" y="35173"/>
                    <a:pt x="35173" y="0"/>
                    <a:pt x="78561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7122" cy="19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41277" y="852778"/>
            <a:ext cx="228570" cy="333447"/>
          </a:xfrm>
          <a:custGeom>
            <a:avLst/>
            <a:gdLst/>
            <a:ahLst/>
            <a:cxnLst/>
            <a:rect r="r" b="b" t="t" l="l"/>
            <a:pathLst>
              <a:path h="333447" w="228570">
                <a:moveTo>
                  <a:pt x="0" y="0"/>
                </a:moveTo>
                <a:lnTo>
                  <a:pt x="228570" y="0"/>
                </a:lnTo>
                <a:lnTo>
                  <a:pt x="228570" y="333447"/>
                </a:lnTo>
                <a:lnTo>
                  <a:pt x="0" y="333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69847" y="2701969"/>
            <a:ext cx="7419300" cy="6515494"/>
          </a:xfrm>
          <a:custGeom>
            <a:avLst/>
            <a:gdLst/>
            <a:ahLst/>
            <a:cxnLst/>
            <a:rect r="r" b="b" t="t" l="l"/>
            <a:pathLst>
              <a:path h="6515494" w="7419300">
                <a:moveTo>
                  <a:pt x="0" y="0"/>
                </a:moveTo>
                <a:lnTo>
                  <a:pt x="7419300" y="0"/>
                </a:lnTo>
                <a:lnTo>
                  <a:pt x="7419300" y="6515494"/>
                </a:lnTo>
                <a:lnTo>
                  <a:pt x="0" y="65154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024449" y="340100"/>
            <a:ext cx="1987578" cy="1987578"/>
          </a:xfrm>
          <a:custGeom>
            <a:avLst/>
            <a:gdLst/>
            <a:ahLst/>
            <a:cxnLst/>
            <a:rect r="r" b="b" t="t" l="l"/>
            <a:pathLst>
              <a:path h="1987578" w="1987578">
                <a:moveTo>
                  <a:pt x="0" y="0"/>
                </a:moveTo>
                <a:lnTo>
                  <a:pt x="1987578" y="0"/>
                </a:lnTo>
                <a:lnTo>
                  <a:pt x="1987578" y="1987578"/>
                </a:lnTo>
                <a:lnTo>
                  <a:pt x="0" y="19875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958878" y="8332249"/>
            <a:ext cx="1987578" cy="1987578"/>
          </a:xfrm>
          <a:custGeom>
            <a:avLst/>
            <a:gdLst/>
            <a:ahLst/>
            <a:cxnLst/>
            <a:rect r="r" b="b" t="t" l="l"/>
            <a:pathLst>
              <a:path h="1987578" w="1987578">
                <a:moveTo>
                  <a:pt x="0" y="0"/>
                </a:moveTo>
                <a:lnTo>
                  <a:pt x="1987578" y="0"/>
                </a:lnTo>
                <a:lnTo>
                  <a:pt x="1987578" y="1987578"/>
                </a:lnTo>
                <a:lnTo>
                  <a:pt x="0" y="19875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144000" y="1816441"/>
            <a:ext cx="511237" cy="511237"/>
            <a:chOff x="0" y="0"/>
            <a:chExt cx="647700" cy="6477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E9984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52400" y="104775"/>
              <a:ext cx="342900" cy="39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56169" y="2825794"/>
            <a:ext cx="6105046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B0A0A"/>
                </a:solidFill>
                <a:latin typeface="TT Rounds Neue Bold"/>
                <a:ea typeface="TT Rounds Neue Bold"/>
                <a:cs typeface="TT Rounds Neue Bold"/>
                <a:sym typeface="TT Rounds Neue Bold"/>
              </a:rPr>
              <a:t>SamriddhiAI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56169" y="3870638"/>
            <a:ext cx="6598177" cy="1714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476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An Intelligent, Conversational, and Empathetic Financial Assistant for Everyday India</a:t>
            </a:r>
          </a:p>
          <a:p>
            <a:pPr algn="l">
              <a:lnSpc>
                <a:spcPts val="3467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11841469" y="7722138"/>
            <a:ext cx="3427579" cy="610379"/>
            <a:chOff x="0" y="0"/>
            <a:chExt cx="902737" cy="1607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02737" cy="160758"/>
            </a:xfrm>
            <a:custGeom>
              <a:avLst/>
              <a:gdLst/>
              <a:ahLst/>
              <a:cxnLst/>
              <a:rect r="r" b="b" t="t" l="l"/>
              <a:pathLst>
                <a:path h="160758" w="902737">
                  <a:moveTo>
                    <a:pt x="80379" y="0"/>
                  </a:moveTo>
                  <a:lnTo>
                    <a:pt x="822358" y="0"/>
                  </a:lnTo>
                  <a:cubicBezTo>
                    <a:pt x="843676" y="0"/>
                    <a:pt x="864120" y="8468"/>
                    <a:pt x="879194" y="23542"/>
                  </a:cubicBezTo>
                  <a:cubicBezTo>
                    <a:pt x="894268" y="38616"/>
                    <a:pt x="902737" y="59061"/>
                    <a:pt x="902737" y="80379"/>
                  </a:cubicBezTo>
                  <a:lnTo>
                    <a:pt x="902737" y="80379"/>
                  </a:lnTo>
                  <a:cubicBezTo>
                    <a:pt x="902737" y="101697"/>
                    <a:pt x="894268" y="122142"/>
                    <a:pt x="879194" y="137216"/>
                  </a:cubicBezTo>
                  <a:cubicBezTo>
                    <a:pt x="864120" y="152290"/>
                    <a:pt x="843676" y="160758"/>
                    <a:pt x="822358" y="160758"/>
                  </a:cubicBezTo>
                  <a:lnTo>
                    <a:pt x="80379" y="160758"/>
                  </a:lnTo>
                  <a:cubicBezTo>
                    <a:pt x="59061" y="160758"/>
                    <a:pt x="38616" y="152290"/>
                    <a:pt x="23542" y="137216"/>
                  </a:cubicBezTo>
                  <a:cubicBezTo>
                    <a:pt x="8468" y="122142"/>
                    <a:pt x="0" y="101697"/>
                    <a:pt x="0" y="80379"/>
                  </a:cubicBezTo>
                  <a:lnTo>
                    <a:pt x="0" y="80379"/>
                  </a:lnTo>
                  <a:cubicBezTo>
                    <a:pt x="0" y="59061"/>
                    <a:pt x="8468" y="38616"/>
                    <a:pt x="23542" y="23542"/>
                  </a:cubicBezTo>
                  <a:cubicBezTo>
                    <a:pt x="38616" y="8468"/>
                    <a:pt x="59061" y="0"/>
                    <a:pt x="80379" y="0"/>
                  </a:cubicBezTo>
                  <a:close/>
                </a:path>
              </a:pathLst>
            </a:custGeom>
            <a:solidFill>
              <a:srgbClr val="004D6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02737" cy="19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841469" y="8408717"/>
            <a:ext cx="3427579" cy="610379"/>
            <a:chOff x="0" y="0"/>
            <a:chExt cx="902737" cy="16075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02737" cy="160758"/>
            </a:xfrm>
            <a:custGeom>
              <a:avLst/>
              <a:gdLst/>
              <a:ahLst/>
              <a:cxnLst/>
              <a:rect r="r" b="b" t="t" l="l"/>
              <a:pathLst>
                <a:path h="160758" w="902737">
                  <a:moveTo>
                    <a:pt x="80379" y="0"/>
                  </a:moveTo>
                  <a:lnTo>
                    <a:pt x="822358" y="0"/>
                  </a:lnTo>
                  <a:cubicBezTo>
                    <a:pt x="843676" y="0"/>
                    <a:pt x="864120" y="8468"/>
                    <a:pt x="879194" y="23542"/>
                  </a:cubicBezTo>
                  <a:cubicBezTo>
                    <a:pt x="894268" y="38616"/>
                    <a:pt x="902737" y="59061"/>
                    <a:pt x="902737" y="80379"/>
                  </a:cubicBezTo>
                  <a:lnTo>
                    <a:pt x="902737" y="80379"/>
                  </a:lnTo>
                  <a:cubicBezTo>
                    <a:pt x="902737" y="101697"/>
                    <a:pt x="894268" y="122142"/>
                    <a:pt x="879194" y="137216"/>
                  </a:cubicBezTo>
                  <a:cubicBezTo>
                    <a:pt x="864120" y="152290"/>
                    <a:pt x="843676" y="160758"/>
                    <a:pt x="822358" y="160758"/>
                  </a:cubicBezTo>
                  <a:lnTo>
                    <a:pt x="80379" y="160758"/>
                  </a:lnTo>
                  <a:cubicBezTo>
                    <a:pt x="59061" y="160758"/>
                    <a:pt x="38616" y="152290"/>
                    <a:pt x="23542" y="137216"/>
                  </a:cubicBezTo>
                  <a:cubicBezTo>
                    <a:pt x="8468" y="122142"/>
                    <a:pt x="0" y="101697"/>
                    <a:pt x="0" y="80379"/>
                  </a:cubicBezTo>
                  <a:lnTo>
                    <a:pt x="0" y="80379"/>
                  </a:lnTo>
                  <a:cubicBezTo>
                    <a:pt x="0" y="59061"/>
                    <a:pt x="8468" y="38616"/>
                    <a:pt x="23542" y="23542"/>
                  </a:cubicBezTo>
                  <a:cubicBezTo>
                    <a:pt x="38616" y="8468"/>
                    <a:pt x="59061" y="0"/>
                    <a:pt x="80379" y="0"/>
                  </a:cubicBezTo>
                  <a:close/>
                </a:path>
              </a:pathLst>
            </a:custGeom>
            <a:solidFill>
              <a:srgbClr val="004D6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02737" cy="19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351959" y="6276553"/>
            <a:ext cx="2406597" cy="667567"/>
            <a:chOff x="0" y="0"/>
            <a:chExt cx="3208797" cy="890089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2975312" cy="890089"/>
              <a:chOff x="0" y="0"/>
              <a:chExt cx="537369" cy="160758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537369" cy="160758"/>
              </a:xfrm>
              <a:custGeom>
                <a:avLst/>
                <a:gdLst/>
                <a:ahLst/>
                <a:cxnLst/>
                <a:rect r="r" b="b" t="t" l="l"/>
                <a:pathLst>
                  <a:path h="160758" w="537369">
                    <a:moveTo>
                      <a:pt x="80379" y="0"/>
                    </a:moveTo>
                    <a:lnTo>
                      <a:pt x="456989" y="0"/>
                    </a:lnTo>
                    <a:cubicBezTo>
                      <a:pt x="478307" y="0"/>
                      <a:pt x="498752" y="8468"/>
                      <a:pt x="513826" y="23542"/>
                    </a:cubicBezTo>
                    <a:cubicBezTo>
                      <a:pt x="528900" y="38616"/>
                      <a:pt x="537369" y="59061"/>
                      <a:pt x="537369" y="80379"/>
                    </a:cubicBezTo>
                    <a:lnTo>
                      <a:pt x="537369" y="80379"/>
                    </a:lnTo>
                    <a:cubicBezTo>
                      <a:pt x="537369" y="101697"/>
                      <a:pt x="528900" y="122142"/>
                      <a:pt x="513826" y="137216"/>
                    </a:cubicBezTo>
                    <a:cubicBezTo>
                      <a:pt x="498752" y="152290"/>
                      <a:pt x="478307" y="160758"/>
                      <a:pt x="456989" y="160758"/>
                    </a:cubicBezTo>
                    <a:lnTo>
                      <a:pt x="80379" y="160758"/>
                    </a:lnTo>
                    <a:cubicBezTo>
                      <a:pt x="59061" y="160758"/>
                      <a:pt x="38616" y="152290"/>
                      <a:pt x="23542" y="137216"/>
                    </a:cubicBezTo>
                    <a:cubicBezTo>
                      <a:pt x="8468" y="122142"/>
                      <a:pt x="0" y="101697"/>
                      <a:pt x="0" y="80379"/>
                    </a:cubicBezTo>
                    <a:lnTo>
                      <a:pt x="0" y="80379"/>
                    </a:lnTo>
                    <a:cubicBezTo>
                      <a:pt x="0" y="59061"/>
                      <a:pt x="8468" y="38616"/>
                      <a:pt x="23542" y="23542"/>
                    </a:cubicBezTo>
                    <a:cubicBezTo>
                      <a:pt x="38616" y="8468"/>
                      <a:pt x="59061" y="0"/>
                      <a:pt x="80379" y="0"/>
                    </a:cubicBezTo>
                    <a:close/>
                  </a:path>
                </a:pathLst>
              </a:custGeom>
              <a:solidFill>
                <a:srgbClr val="E6F9E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537369" cy="1988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322803" y="187012"/>
              <a:ext cx="2885994" cy="4779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2"/>
                </a:lnSpc>
              </a:pPr>
              <a:r>
                <a:rPr lang="en-US" sz="2187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P</a:t>
              </a:r>
              <a:r>
                <a:rPr lang="en-US" sz="2187">
                  <a:solidFill>
                    <a:srgbClr val="0B0A0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resented By: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2911685" y="7141776"/>
            <a:ext cx="128714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Vrinda Teli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844844" y="830256"/>
            <a:ext cx="367931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Team Avengers HackOut’26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7021647" y="8218235"/>
            <a:ext cx="511237" cy="511237"/>
            <a:chOff x="0" y="0"/>
            <a:chExt cx="647700" cy="6477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E99842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52400" y="104775"/>
              <a:ext cx="342900" cy="39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841469" y="9095295"/>
            <a:ext cx="3427579" cy="610379"/>
            <a:chOff x="0" y="0"/>
            <a:chExt cx="902737" cy="16075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02737" cy="160758"/>
            </a:xfrm>
            <a:custGeom>
              <a:avLst/>
              <a:gdLst/>
              <a:ahLst/>
              <a:cxnLst/>
              <a:rect r="r" b="b" t="t" l="l"/>
              <a:pathLst>
                <a:path h="160758" w="902737">
                  <a:moveTo>
                    <a:pt x="80379" y="0"/>
                  </a:moveTo>
                  <a:lnTo>
                    <a:pt x="822358" y="0"/>
                  </a:lnTo>
                  <a:cubicBezTo>
                    <a:pt x="843676" y="0"/>
                    <a:pt x="864120" y="8468"/>
                    <a:pt x="879194" y="23542"/>
                  </a:cubicBezTo>
                  <a:cubicBezTo>
                    <a:pt x="894268" y="38616"/>
                    <a:pt x="902737" y="59061"/>
                    <a:pt x="902737" y="80379"/>
                  </a:cubicBezTo>
                  <a:lnTo>
                    <a:pt x="902737" y="80379"/>
                  </a:lnTo>
                  <a:cubicBezTo>
                    <a:pt x="902737" y="101697"/>
                    <a:pt x="894268" y="122142"/>
                    <a:pt x="879194" y="137216"/>
                  </a:cubicBezTo>
                  <a:cubicBezTo>
                    <a:pt x="864120" y="152290"/>
                    <a:pt x="843676" y="160758"/>
                    <a:pt x="822358" y="160758"/>
                  </a:cubicBezTo>
                  <a:lnTo>
                    <a:pt x="80379" y="160758"/>
                  </a:lnTo>
                  <a:cubicBezTo>
                    <a:pt x="59061" y="160758"/>
                    <a:pt x="38616" y="152290"/>
                    <a:pt x="23542" y="137216"/>
                  </a:cubicBezTo>
                  <a:cubicBezTo>
                    <a:pt x="8468" y="122142"/>
                    <a:pt x="0" y="101697"/>
                    <a:pt x="0" y="80379"/>
                  </a:cubicBezTo>
                  <a:lnTo>
                    <a:pt x="0" y="80379"/>
                  </a:lnTo>
                  <a:cubicBezTo>
                    <a:pt x="0" y="59061"/>
                    <a:pt x="8468" y="38616"/>
                    <a:pt x="23542" y="23542"/>
                  </a:cubicBezTo>
                  <a:cubicBezTo>
                    <a:pt x="38616" y="8468"/>
                    <a:pt x="59061" y="0"/>
                    <a:pt x="80379" y="0"/>
                  </a:cubicBezTo>
                  <a:close/>
                </a:path>
              </a:pathLst>
            </a:custGeom>
            <a:solidFill>
              <a:srgbClr val="004D63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02737" cy="19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2679802" y="7828890"/>
            <a:ext cx="175091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Devanshi Vora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504133" y="8516004"/>
            <a:ext cx="210224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Bhumi Halatwala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328465" y="9202047"/>
            <a:ext cx="245358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Khushboo Dharmani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0989" y="84481"/>
            <a:ext cx="1987578" cy="1987578"/>
          </a:xfrm>
          <a:custGeom>
            <a:avLst/>
            <a:gdLst/>
            <a:ahLst/>
            <a:cxnLst/>
            <a:rect r="r" b="b" t="t" l="l"/>
            <a:pathLst>
              <a:path h="1987578" w="1987578">
                <a:moveTo>
                  <a:pt x="0" y="0"/>
                </a:moveTo>
                <a:lnTo>
                  <a:pt x="1987579" y="0"/>
                </a:lnTo>
                <a:lnTo>
                  <a:pt x="1987579" y="1987579"/>
                </a:lnTo>
                <a:lnTo>
                  <a:pt x="0" y="19875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8299422"/>
            <a:ext cx="1987578" cy="1987578"/>
          </a:xfrm>
          <a:custGeom>
            <a:avLst/>
            <a:gdLst/>
            <a:ahLst/>
            <a:cxnLst/>
            <a:rect r="r" b="b" t="t" l="l"/>
            <a:pathLst>
              <a:path h="1987578" w="1987578">
                <a:moveTo>
                  <a:pt x="0" y="0"/>
                </a:moveTo>
                <a:lnTo>
                  <a:pt x="1987578" y="0"/>
                </a:lnTo>
                <a:lnTo>
                  <a:pt x="1987578" y="1987578"/>
                </a:lnTo>
                <a:lnTo>
                  <a:pt x="0" y="1987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049780" y="416797"/>
            <a:ext cx="511237" cy="511237"/>
            <a:chOff x="0" y="0"/>
            <a:chExt cx="647700" cy="647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E9984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52400" y="104775"/>
              <a:ext cx="342900" cy="39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474317" y="9585092"/>
            <a:ext cx="511237" cy="511237"/>
            <a:chOff x="0" y="0"/>
            <a:chExt cx="647700" cy="647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E9984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52400" y="104775"/>
              <a:ext cx="342900" cy="39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880647" y="4260392"/>
            <a:ext cx="11567662" cy="5835938"/>
          </a:xfrm>
          <a:custGeom>
            <a:avLst/>
            <a:gdLst/>
            <a:ahLst/>
            <a:cxnLst/>
            <a:rect r="r" b="b" t="t" l="l"/>
            <a:pathLst>
              <a:path h="5835938" w="11567662">
                <a:moveTo>
                  <a:pt x="0" y="0"/>
                </a:moveTo>
                <a:lnTo>
                  <a:pt x="11567662" y="0"/>
                </a:lnTo>
                <a:lnTo>
                  <a:pt x="11567662" y="5835938"/>
                </a:lnTo>
                <a:lnTo>
                  <a:pt x="0" y="58359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36590" y="2944611"/>
            <a:ext cx="7182327" cy="155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4"/>
              </a:lnSpc>
            </a:pPr>
            <a:r>
              <a:rPr lang="en-US" sz="5994" b="true">
                <a:solidFill>
                  <a:srgbClr val="0B0A0A"/>
                </a:solidFill>
                <a:latin typeface="TT Rounds Neue Bold"/>
                <a:ea typeface="TT Rounds Neue Bold"/>
                <a:cs typeface="TT Rounds Neue Bold"/>
                <a:sym typeface="TT Rounds Neue Bold"/>
              </a:rPr>
              <a:t>Advanc</a:t>
            </a:r>
            <a:r>
              <a:rPr lang="en-US" sz="5994" b="true">
                <a:solidFill>
                  <a:srgbClr val="0B0A0A"/>
                </a:solidFill>
                <a:latin typeface="TT Rounds Neue Bold"/>
                <a:ea typeface="TT Rounds Neue Bold"/>
                <a:cs typeface="TT Rounds Neue Bold"/>
                <a:sym typeface="TT Rounds Neue Bold"/>
              </a:rPr>
              <a:t>ed Banking, Everyday Confusion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96752" y="1439503"/>
            <a:ext cx="5146283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Team Avengers HackOut’26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634756" y="3416200"/>
            <a:ext cx="5627106" cy="211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Indian banks have advanced rapidly in d</a:t>
            </a:r>
            <a:r>
              <a:rPr lang="en-US" sz="20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igital</a:t>
            </a:r>
            <a:r>
              <a:rPr lang="en-US" sz="20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 banking, but many customers in Tier 2/3/4 towns and rural areas still struggle with apps that feel complex, generic, and disconnected from their real financial needs.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634756" y="2947334"/>
            <a:ext cx="511039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Digital Barriers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20152" y="2478420"/>
            <a:ext cx="7593493" cy="6010266"/>
            <a:chOff x="0" y="0"/>
            <a:chExt cx="1637768" cy="12962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37770" cy="1296297"/>
            </a:xfrm>
            <a:custGeom>
              <a:avLst/>
              <a:gdLst/>
              <a:ahLst/>
              <a:cxnLst/>
              <a:rect r="r" b="b" t="t" l="l"/>
              <a:pathLst>
                <a:path h="1296297" w="1637770">
                  <a:moveTo>
                    <a:pt x="1290811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1016904"/>
                  </a:lnTo>
                  <a:cubicBezTo>
                    <a:pt x="0" y="1053415"/>
                    <a:pt x="13458" y="1088645"/>
                    <a:pt x="37800" y="1115856"/>
                  </a:cubicBezTo>
                  <a:lnTo>
                    <a:pt x="154967" y="1246833"/>
                  </a:lnTo>
                  <a:cubicBezTo>
                    <a:pt x="183122" y="1278308"/>
                    <a:pt x="223353" y="1296298"/>
                    <a:pt x="265584" y="1296297"/>
                  </a:cubicBezTo>
                  <a:lnTo>
                    <a:pt x="1489354" y="1296297"/>
                  </a:lnTo>
                  <a:cubicBezTo>
                    <a:pt x="1528716" y="1296297"/>
                    <a:pt x="1566467" y="1280661"/>
                    <a:pt x="1594300" y="1252828"/>
                  </a:cubicBezTo>
                  <a:cubicBezTo>
                    <a:pt x="1622134" y="1224994"/>
                    <a:pt x="1637770" y="1187244"/>
                    <a:pt x="1637770" y="1147882"/>
                  </a:cubicBezTo>
                  <a:lnTo>
                    <a:pt x="1637770" y="366141"/>
                  </a:lnTo>
                  <a:cubicBezTo>
                    <a:pt x="1637771" y="329143"/>
                    <a:pt x="1623951" y="293478"/>
                    <a:pt x="1599021" y="266140"/>
                  </a:cubicBezTo>
                  <a:lnTo>
                    <a:pt x="1400478" y="48414"/>
                  </a:lnTo>
                  <a:cubicBezTo>
                    <a:pt x="1372356" y="17574"/>
                    <a:pt x="1332548" y="0"/>
                    <a:pt x="1290811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A28E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485900" y="1692014"/>
            <a:ext cx="4945774" cy="279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6"/>
              </a:lnSpc>
            </a:pPr>
            <a:r>
              <a:rPr lang="en-US" sz="5496" b="true">
                <a:solidFill>
                  <a:srgbClr val="0B0A0A"/>
                </a:solidFill>
                <a:latin typeface="TT Rounds Neue Bold"/>
                <a:ea typeface="TT Rounds Neue Bold"/>
                <a:cs typeface="TT Rounds Neue Bold"/>
                <a:sym typeface="TT Rounds Neue Bold"/>
              </a:rPr>
              <a:t>Empathetic &amp; Conversational Mobile Banking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801649"/>
            <a:ext cx="6026349" cy="4893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7835" indent="-248918" lvl="1">
              <a:lnSpc>
                <a:spcPts val="3228"/>
              </a:lnSpc>
              <a:buFont typeface="Arial"/>
              <a:buChar char="•"/>
            </a:pPr>
            <a:r>
              <a:rPr lang="en-US" b="true" sz="2305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Dialogue in Vernacular Languages</a:t>
            </a:r>
            <a:r>
              <a:rPr lang="en-US" sz="2305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: Swap complex formats for step-wise and textual dialogue in local Indian languages.</a:t>
            </a:r>
          </a:p>
          <a:p>
            <a:pPr algn="l" marL="497835" indent="-248918" lvl="1">
              <a:lnSpc>
                <a:spcPts val="3228"/>
              </a:lnSpc>
              <a:buFont typeface="Arial"/>
              <a:buChar char="•"/>
            </a:pPr>
            <a:r>
              <a:rPr lang="en-US" b="true" sz="2305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Context-based Prompts:</a:t>
            </a:r>
            <a:r>
              <a:rPr lang="en-US" sz="2305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 Kill generic spam with explainable financial recommendations that match your spending behavior.</a:t>
            </a:r>
          </a:p>
          <a:p>
            <a:pPr algn="l" marL="497835" indent="-248918" lvl="1">
              <a:lnSpc>
                <a:spcPts val="3228"/>
              </a:lnSpc>
              <a:buFont typeface="Arial"/>
              <a:buChar char="•"/>
            </a:pPr>
            <a:r>
              <a:rPr lang="en-US" b="true" sz="2305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Safety Net Empathy: </a:t>
            </a:r>
            <a:r>
              <a:rPr lang="en-US" sz="2305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Predict cash flow distress proactively to provide flexibility in EMI dates before penalty hits.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09024"/>
            <a:ext cx="470808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Tea</a:t>
            </a:r>
            <a:r>
              <a:rPr lang="en-US" sz="2400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 Avengers HackOut’26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12361" y="3033260"/>
            <a:ext cx="5009073" cy="5455426"/>
          </a:xfrm>
          <a:custGeom>
            <a:avLst/>
            <a:gdLst/>
            <a:ahLst/>
            <a:cxnLst/>
            <a:rect r="r" b="b" t="t" l="l"/>
            <a:pathLst>
              <a:path h="5455426" w="5009073">
                <a:moveTo>
                  <a:pt x="0" y="0"/>
                </a:moveTo>
                <a:lnTo>
                  <a:pt x="5009074" y="0"/>
                </a:lnTo>
                <a:lnTo>
                  <a:pt x="5009074" y="5455426"/>
                </a:lnTo>
                <a:lnTo>
                  <a:pt x="0" y="5455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024449" y="340100"/>
            <a:ext cx="1987578" cy="1987578"/>
          </a:xfrm>
          <a:custGeom>
            <a:avLst/>
            <a:gdLst/>
            <a:ahLst/>
            <a:cxnLst/>
            <a:rect r="r" b="b" t="t" l="l"/>
            <a:pathLst>
              <a:path h="1987578" w="1987578">
                <a:moveTo>
                  <a:pt x="0" y="0"/>
                </a:moveTo>
                <a:lnTo>
                  <a:pt x="1987578" y="0"/>
                </a:lnTo>
                <a:lnTo>
                  <a:pt x="1987578" y="1987578"/>
                </a:lnTo>
                <a:lnTo>
                  <a:pt x="0" y="19875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958878" y="8332249"/>
            <a:ext cx="1987578" cy="1987578"/>
          </a:xfrm>
          <a:custGeom>
            <a:avLst/>
            <a:gdLst/>
            <a:ahLst/>
            <a:cxnLst/>
            <a:rect r="r" b="b" t="t" l="l"/>
            <a:pathLst>
              <a:path h="1987578" w="1987578">
                <a:moveTo>
                  <a:pt x="0" y="0"/>
                </a:moveTo>
                <a:lnTo>
                  <a:pt x="1987578" y="0"/>
                </a:lnTo>
                <a:lnTo>
                  <a:pt x="1987578" y="1987578"/>
                </a:lnTo>
                <a:lnTo>
                  <a:pt x="0" y="19875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081305" y="9070419"/>
            <a:ext cx="511237" cy="511237"/>
            <a:chOff x="0" y="0"/>
            <a:chExt cx="647700" cy="647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E9984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52400" y="104775"/>
              <a:ext cx="342900" cy="39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83049" y="1396089"/>
            <a:ext cx="47470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Team Avengers HackOut’26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119598" y="2249529"/>
            <a:ext cx="489313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Behavioral Pattern Recognition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19598" y="2777849"/>
            <a:ext cx="5519669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Aggregates that roll transaction-based indicators to capture actual customer needs without requiring intrusive demographic information gathering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450989" y="84481"/>
            <a:ext cx="1987578" cy="1987578"/>
          </a:xfrm>
          <a:custGeom>
            <a:avLst/>
            <a:gdLst/>
            <a:ahLst/>
            <a:cxnLst/>
            <a:rect r="r" b="b" t="t" l="l"/>
            <a:pathLst>
              <a:path h="1987578" w="1987578">
                <a:moveTo>
                  <a:pt x="0" y="0"/>
                </a:moveTo>
                <a:lnTo>
                  <a:pt x="1987579" y="0"/>
                </a:lnTo>
                <a:lnTo>
                  <a:pt x="1987579" y="1987579"/>
                </a:lnTo>
                <a:lnTo>
                  <a:pt x="0" y="19875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8299422"/>
            <a:ext cx="1987578" cy="1987578"/>
          </a:xfrm>
          <a:custGeom>
            <a:avLst/>
            <a:gdLst/>
            <a:ahLst/>
            <a:cxnLst/>
            <a:rect r="r" b="b" t="t" l="l"/>
            <a:pathLst>
              <a:path h="1987578" w="1987578">
                <a:moveTo>
                  <a:pt x="0" y="0"/>
                </a:moveTo>
                <a:lnTo>
                  <a:pt x="1987578" y="0"/>
                </a:lnTo>
                <a:lnTo>
                  <a:pt x="1987578" y="1987578"/>
                </a:lnTo>
                <a:lnTo>
                  <a:pt x="0" y="1987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342203" y="300017"/>
            <a:ext cx="511237" cy="511237"/>
            <a:chOff x="0" y="0"/>
            <a:chExt cx="647700" cy="647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E9984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52400" y="104775"/>
              <a:ext cx="342900" cy="39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474317" y="9585092"/>
            <a:ext cx="511237" cy="511237"/>
            <a:chOff x="0" y="0"/>
            <a:chExt cx="647700" cy="647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E9984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52400" y="104775"/>
              <a:ext cx="342900" cy="39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119598" y="4916805"/>
            <a:ext cx="489313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Dual-Action Monitoring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19598" y="5446395"/>
            <a:ext cx="5519669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While unsupervised anomaly detection models quickly detect any suspicious transactions for fraud prevention purposes, trend analysis detects slow financial distress to offer support.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35424" y="5436870"/>
            <a:ext cx="5519669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Contextual, Need-Based Guidance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463999" y="5981446"/>
            <a:ext cx="5519669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Analyzes spending and saving patterns to surface genuinely useful actions — a recurring savings option, or education budget planning — each with a plain-language 'why'.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463999" y="2186360"/>
            <a:ext cx="5856466" cy="2428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300" b="true">
                <a:solidFill>
                  <a:srgbClr val="0B0A0A"/>
                </a:solidFill>
                <a:latin typeface="TT Rounds Neue Bold"/>
                <a:ea typeface="TT Rounds Neue Bold"/>
                <a:cs typeface="TT Rounds Neue Bold"/>
                <a:sym typeface="TT Rounds Neue Bold"/>
              </a:rPr>
              <a:t>AI / ML Modular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2331" y="3909221"/>
            <a:ext cx="7038571" cy="6934705"/>
            <a:chOff x="0" y="0"/>
            <a:chExt cx="1090459" cy="10743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0459" cy="1074367"/>
            </a:xfrm>
            <a:custGeom>
              <a:avLst/>
              <a:gdLst/>
              <a:ahLst/>
              <a:cxnLst/>
              <a:rect r="r" b="b" t="t" l="l"/>
              <a:pathLst>
                <a:path h="1074367" w="1090459">
                  <a:moveTo>
                    <a:pt x="48397" y="0"/>
                  </a:moveTo>
                  <a:lnTo>
                    <a:pt x="1042062" y="0"/>
                  </a:lnTo>
                  <a:cubicBezTo>
                    <a:pt x="1068791" y="0"/>
                    <a:pt x="1090459" y="21668"/>
                    <a:pt x="1090459" y="48397"/>
                  </a:cubicBezTo>
                  <a:lnTo>
                    <a:pt x="1090459" y="1025970"/>
                  </a:lnTo>
                  <a:cubicBezTo>
                    <a:pt x="1090459" y="1052699"/>
                    <a:pt x="1068791" y="1074367"/>
                    <a:pt x="1042062" y="1074367"/>
                  </a:cubicBezTo>
                  <a:lnTo>
                    <a:pt x="48397" y="1074367"/>
                  </a:lnTo>
                  <a:cubicBezTo>
                    <a:pt x="21668" y="1074367"/>
                    <a:pt x="0" y="1052699"/>
                    <a:pt x="0" y="1025970"/>
                  </a:cubicBezTo>
                  <a:lnTo>
                    <a:pt x="0" y="48397"/>
                  </a:lnTo>
                  <a:cubicBezTo>
                    <a:pt x="0" y="21668"/>
                    <a:pt x="21668" y="0"/>
                    <a:pt x="48397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A28E"/>
              </a:solidFill>
              <a:prstDash val="solid"/>
              <a:round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454110" y="4758516"/>
            <a:ext cx="3775014" cy="5478253"/>
          </a:xfrm>
          <a:custGeom>
            <a:avLst/>
            <a:gdLst/>
            <a:ahLst/>
            <a:cxnLst/>
            <a:rect r="r" b="b" t="t" l="l"/>
            <a:pathLst>
              <a:path h="5478253" w="3775014">
                <a:moveTo>
                  <a:pt x="0" y="0"/>
                </a:moveTo>
                <a:lnTo>
                  <a:pt x="3775014" y="0"/>
                </a:lnTo>
                <a:lnTo>
                  <a:pt x="3775014" y="5478253"/>
                </a:lnTo>
                <a:lnTo>
                  <a:pt x="0" y="547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993223" y="1286264"/>
            <a:ext cx="527491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Data Layer:</a:t>
            </a:r>
            <a:r>
              <a:rPr lang="en-US" sz="20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 Ingests transactions, us</a:t>
            </a:r>
            <a:r>
              <a:rPr lang="en-US" sz="20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er behavior, profiles, and labels.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93223" y="2409227"/>
            <a:ext cx="5274911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Feature Pipeline:</a:t>
            </a:r>
            <a:r>
              <a:rPr lang="en-US" sz="20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 Extracts 178 features/custome</a:t>
            </a:r>
            <a:r>
              <a:rPr lang="en-US" sz="20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r (profile, 7-mo transactions, stress score).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93223" y="3861596"/>
            <a:ext cx="5274911" cy="316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AI Engine: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Narration Classifier: LightGBM model.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Recommender: Propensity &amp; product scoring.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Anomaly D</a:t>
            </a:r>
            <a:r>
              <a:rPr lang="en-US" sz="20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etector: Isolation Forest + custom rules.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Chatbot: Text &amp; voice across 5 languages.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024449" y="340100"/>
            <a:ext cx="1987578" cy="1987578"/>
          </a:xfrm>
          <a:custGeom>
            <a:avLst/>
            <a:gdLst/>
            <a:ahLst/>
            <a:cxnLst/>
            <a:rect r="r" b="b" t="t" l="l"/>
            <a:pathLst>
              <a:path h="1987578" w="1987578">
                <a:moveTo>
                  <a:pt x="0" y="0"/>
                </a:moveTo>
                <a:lnTo>
                  <a:pt x="1987578" y="0"/>
                </a:lnTo>
                <a:lnTo>
                  <a:pt x="1987578" y="1987578"/>
                </a:lnTo>
                <a:lnTo>
                  <a:pt x="0" y="19875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958878" y="8332249"/>
            <a:ext cx="1987578" cy="1987578"/>
          </a:xfrm>
          <a:custGeom>
            <a:avLst/>
            <a:gdLst/>
            <a:ahLst/>
            <a:cxnLst/>
            <a:rect r="r" b="b" t="t" l="l"/>
            <a:pathLst>
              <a:path h="1987578" w="1987578">
                <a:moveTo>
                  <a:pt x="0" y="0"/>
                </a:moveTo>
                <a:lnTo>
                  <a:pt x="1987578" y="0"/>
                </a:lnTo>
                <a:lnTo>
                  <a:pt x="1987578" y="1987578"/>
                </a:lnTo>
                <a:lnTo>
                  <a:pt x="0" y="19875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687197" y="773081"/>
            <a:ext cx="511237" cy="511237"/>
            <a:chOff x="0" y="0"/>
            <a:chExt cx="647700" cy="647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E9984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52400" y="104775"/>
              <a:ext cx="342900" cy="39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016557" y="2648890"/>
            <a:ext cx="622398" cy="622398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28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112312" y="2803892"/>
            <a:ext cx="430890" cy="312395"/>
          </a:xfrm>
          <a:custGeom>
            <a:avLst/>
            <a:gdLst/>
            <a:ahLst/>
            <a:cxnLst/>
            <a:rect r="r" b="b" t="t" l="l"/>
            <a:pathLst>
              <a:path h="312395" w="430890">
                <a:moveTo>
                  <a:pt x="0" y="0"/>
                </a:moveTo>
                <a:lnTo>
                  <a:pt x="430890" y="0"/>
                </a:lnTo>
                <a:lnTo>
                  <a:pt x="430890" y="312395"/>
                </a:lnTo>
                <a:lnTo>
                  <a:pt x="0" y="3123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0016557" y="3909221"/>
            <a:ext cx="622398" cy="62239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28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0112312" y="4064222"/>
            <a:ext cx="430890" cy="312395"/>
          </a:xfrm>
          <a:custGeom>
            <a:avLst/>
            <a:gdLst/>
            <a:ahLst/>
            <a:cxnLst/>
            <a:rect r="r" b="b" t="t" l="l"/>
            <a:pathLst>
              <a:path h="312395" w="430890">
                <a:moveTo>
                  <a:pt x="0" y="0"/>
                </a:moveTo>
                <a:lnTo>
                  <a:pt x="430890" y="0"/>
                </a:lnTo>
                <a:lnTo>
                  <a:pt x="430890" y="312395"/>
                </a:lnTo>
                <a:lnTo>
                  <a:pt x="0" y="3123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0016557" y="7030246"/>
            <a:ext cx="622398" cy="62239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28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112312" y="7185247"/>
            <a:ext cx="430890" cy="312395"/>
          </a:xfrm>
          <a:custGeom>
            <a:avLst/>
            <a:gdLst/>
            <a:ahLst/>
            <a:cxnLst/>
            <a:rect r="r" b="b" t="t" l="l"/>
            <a:pathLst>
              <a:path h="312395" w="430890">
                <a:moveTo>
                  <a:pt x="0" y="0"/>
                </a:moveTo>
                <a:lnTo>
                  <a:pt x="430890" y="0"/>
                </a:lnTo>
                <a:lnTo>
                  <a:pt x="430890" y="312395"/>
                </a:lnTo>
                <a:lnTo>
                  <a:pt x="0" y="3123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956324" y="1507893"/>
            <a:ext cx="4986492" cy="176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B0A0A"/>
                </a:solidFill>
                <a:latin typeface="TT Rounds Neue Bold"/>
                <a:ea typeface="TT Rounds Neue Bold"/>
                <a:cs typeface="TT Rounds Neue Bold"/>
                <a:sym typeface="TT Rounds Neue Bold"/>
              </a:rPr>
              <a:t>System Intelligence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016557" y="1284319"/>
            <a:ext cx="622398" cy="62239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28E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0112312" y="1439320"/>
            <a:ext cx="430890" cy="312395"/>
          </a:xfrm>
          <a:custGeom>
            <a:avLst/>
            <a:gdLst/>
            <a:ahLst/>
            <a:cxnLst/>
            <a:rect r="r" b="b" t="t" l="l"/>
            <a:pathLst>
              <a:path h="312395" w="430890">
                <a:moveTo>
                  <a:pt x="0" y="0"/>
                </a:moveTo>
                <a:lnTo>
                  <a:pt x="430890" y="0"/>
                </a:lnTo>
                <a:lnTo>
                  <a:pt x="430890" y="312395"/>
                </a:lnTo>
                <a:lnTo>
                  <a:pt x="0" y="3123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993223" y="6946780"/>
            <a:ext cx="5274911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Guardrail Layer: </a:t>
            </a:r>
            <a:r>
              <a:rPr lang="en-US" sz="20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Suppresses loans for stressed use</a:t>
            </a:r>
            <a:r>
              <a:rPr lang="en-US" sz="20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rs; handles bias audits &amp; risk flags.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993223" y="8419980"/>
            <a:ext cx="527491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Delivery Endpoints: </a:t>
            </a:r>
            <a:r>
              <a:rPr lang="en-US" sz="20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Powe</a:t>
            </a:r>
            <a:r>
              <a:rPr lang="en-US" sz="20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rs Bank Admin Panel (risk/alerts) and Customer App 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016557" y="8443219"/>
            <a:ext cx="622398" cy="622398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28E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0112312" y="8598220"/>
            <a:ext cx="430890" cy="312395"/>
          </a:xfrm>
          <a:custGeom>
            <a:avLst/>
            <a:gdLst/>
            <a:ahLst/>
            <a:cxnLst/>
            <a:rect r="r" b="b" t="t" l="l"/>
            <a:pathLst>
              <a:path h="312395" w="430890">
                <a:moveTo>
                  <a:pt x="0" y="0"/>
                </a:moveTo>
                <a:lnTo>
                  <a:pt x="430890" y="0"/>
                </a:lnTo>
                <a:lnTo>
                  <a:pt x="430890" y="312396"/>
                </a:lnTo>
                <a:lnTo>
                  <a:pt x="0" y="3123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881208" y="546386"/>
            <a:ext cx="47470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Team Avengers HackOut’26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68258" y="1400333"/>
            <a:ext cx="8580225" cy="3533613"/>
            <a:chOff x="0" y="0"/>
            <a:chExt cx="1329301" cy="5474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9301" cy="547449"/>
            </a:xfrm>
            <a:custGeom>
              <a:avLst/>
              <a:gdLst/>
              <a:ahLst/>
              <a:cxnLst/>
              <a:rect r="r" b="b" t="t" l="l"/>
              <a:pathLst>
                <a:path h="547449" w="1329301">
                  <a:moveTo>
                    <a:pt x="31580" y="0"/>
                  </a:moveTo>
                  <a:lnTo>
                    <a:pt x="1297721" y="0"/>
                  </a:lnTo>
                  <a:cubicBezTo>
                    <a:pt x="1306097" y="0"/>
                    <a:pt x="1314129" y="3327"/>
                    <a:pt x="1320052" y="9250"/>
                  </a:cubicBezTo>
                  <a:cubicBezTo>
                    <a:pt x="1325974" y="15172"/>
                    <a:pt x="1329301" y="23205"/>
                    <a:pt x="1329301" y="31580"/>
                  </a:cubicBezTo>
                  <a:lnTo>
                    <a:pt x="1329301" y="515869"/>
                  </a:lnTo>
                  <a:cubicBezTo>
                    <a:pt x="1329301" y="533310"/>
                    <a:pt x="1315162" y="547449"/>
                    <a:pt x="1297721" y="547449"/>
                  </a:cubicBezTo>
                  <a:lnTo>
                    <a:pt x="31580" y="547449"/>
                  </a:lnTo>
                  <a:cubicBezTo>
                    <a:pt x="14139" y="547449"/>
                    <a:pt x="0" y="533310"/>
                    <a:pt x="0" y="515869"/>
                  </a:cubicBezTo>
                  <a:lnTo>
                    <a:pt x="0" y="31580"/>
                  </a:lnTo>
                  <a:cubicBezTo>
                    <a:pt x="0" y="14139"/>
                    <a:pt x="14139" y="0"/>
                    <a:pt x="3158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1012" r="0" b="-3101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768258" y="5353054"/>
            <a:ext cx="4290112" cy="3533613"/>
            <a:chOff x="0" y="0"/>
            <a:chExt cx="664651" cy="5474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4651" cy="547449"/>
            </a:xfrm>
            <a:custGeom>
              <a:avLst/>
              <a:gdLst/>
              <a:ahLst/>
              <a:cxnLst/>
              <a:rect r="r" b="b" t="t" l="l"/>
              <a:pathLst>
                <a:path h="547449" w="664651">
                  <a:moveTo>
                    <a:pt x="63161" y="0"/>
                  </a:moveTo>
                  <a:lnTo>
                    <a:pt x="601490" y="0"/>
                  </a:lnTo>
                  <a:cubicBezTo>
                    <a:pt x="636373" y="0"/>
                    <a:pt x="664651" y="28278"/>
                    <a:pt x="664651" y="63161"/>
                  </a:cubicBezTo>
                  <a:lnTo>
                    <a:pt x="664651" y="484288"/>
                  </a:lnTo>
                  <a:cubicBezTo>
                    <a:pt x="664651" y="519171"/>
                    <a:pt x="636373" y="547449"/>
                    <a:pt x="601490" y="547449"/>
                  </a:cubicBezTo>
                  <a:lnTo>
                    <a:pt x="63161" y="547449"/>
                  </a:lnTo>
                  <a:cubicBezTo>
                    <a:pt x="28278" y="547449"/>
                    <a:pt x="0" y="519171"/>
                    <a:pt x="0" y="484288"/>
                  </a:cubicBezTo>
                  <a:lnTo>
                    <a:pt x="0" y="63161"/>
                  </a:lnTo>
                  <a:cubicBezTo>
                    <a:pt x="0" y="28278"/>
                    <a:pt x="28278" y="0"/>
                    <a:pt x="63161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A28E"/>
              </a:solidFill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627193" y="5353054"/>
            <a:ext cx="3721290" cy="3533613"/>
            <a:chOff x="0" y="0"/>
            <a:chExt cx="980093" cy="9306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0093" cy="930664"/>
            </a:xfrm>
            <a:custGeom>
              <a:avLst/>
              <a:gdLst/>
              <a:ahLst/>
              <a:cxnLst/>
              <a:rect r="r" b="b" t="t" l="l"/>
              <a:pathLst>
                <a:path h="930664" w="980093">
                  <a:moveTo>
                    <a:pt x="72815" y="0"/>
                  </a:moveTo>
                  <a:lnTo>
                    <a:pt x="907277" y="0"/>
                  </a:lnTo>
                  <a:cubicBezTo>
                    <a:pt x="926589" y="0"/>
                    <a:pt x="945110" y="7672"/>
                    <a:pt x="958766" y="21327"/>
                  </a:cubicBezTo>
                  <a:cubicBezTo>
                    <a:pt x="972421" y="34983"/>
                    <a:pt x="980093" y="53504"/>
                    <a:pt x="980093" y="72815"/>
                  </a:cubicBezTo>
                  <a:lnTo>
                    <a:pt x="980093" y="857848"/>
                  </a:lnTo>
                  <a:cubicBezTo>
                    <a:pt x="980093" y="877160"/>
                    <a:pt x="972421" y="895681"/>
                    <a:pt x="958766" y="909336"/>
                  </a:cubicBezTo>
                  <a:cubicBezTo>
                    <a:pt x="945110" y="922992"/>
                    <a:pt x="926589" y="930664"/>
                    <a:pt x="907277" y="930664"/>
                  </a:cubicBezTo>
                  <a:lnTo>
                    <a:pt x="72815" y="930664"/>
                  </a:lnTo>
                  <a:cubicBezTo>
                    <a:pt x="53504" y="930664"/>
                    <a:pt x="34983" y="922992"/>
                    <a:pt x="21327" y="909336"/>
                  </a:cubicBezTo>
                  <a:cubicBezTo>
                    <a:pt x="7672" y="895681"/>
                    <a:pt x="0" y="877160"/>
                    <a:pt x="0" y="857848"/>
                  </a:cubicBezTo>
                  <a:lnTo>
                    <a:pt x="0" y="72815"/>
                  </a:lnTo>
                  <a:cubicBezTo>
                    <a:pt x="0" y="53504"/>
                    <a:pt x="7672" y="34983"/>
                    <a:pt x="21327" y="21327"/>
                  </a:cubicBezTo>
                  <a:cubicBezTo>
                    <a:pt x="34983" y="7672"/>
                    <a:pt x="53504" y="0"/>
                    <a:pt x="72815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A28E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80093" cy="978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284605" y="5353054"/>
            <a:ext cx="5909506" cy="3533613"/>
          </a:xfrm>
          <a:custGeom>
            <a:avLst/>
            <a:gdLst/>
            <a:ahLst/>
            <a:cxnLst/>
            <a:rect r="r" b="b" t="t" l="l"/>
            <a:pathLst>
              <a:path h="3533613" w="5909506">
                <a:moveTo>
                  <a:pt x="0" y="0"/>
                </a:moveTo>
                <a:lnTo>
                  <a:pt x="5909506" y="0"/>
                </a:lnTo>
                <a:lnTo>
                  <a:pt x="5909506" y="3533613"/>
                </a:lnTo>
                <a:lnTo>
                  <a:pt x="0" y="3533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70967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918729"/>
            <a:ext cx="5107778" cy="262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B0A0A"/>
                </a:solidFill>
                <a:latin typeface="TT Rounds Neue Bold"/>
                <a:ea typeface="TT Rounds Neue Bold"/>
                <a:cs typeface="TT Rounds Neue Bold"/>
                <a:sym typeface="TT Rounds Neue Bold"/>
              </a:rPr>
              <a:t>Pro</a:t>
            </a:r>
            <a:r>
              <a:rPr lang="en-US" sz="6800" b="true">
                <a:solidFill>
                  <a:srgbClr val="0B0A0A"/>
                </a:solidFill>
                <a:latin typeface="TT Rounds Neue Bold"/>
                <a:ea typeface="TT Rounds Neue Bold"/>
                <a:cs typeface="TT Rounds Neue Bold"/>
                <a:sym typeface="TT Rounds Neue Bold"/>
              </a:rPr>
              <a:t>totype Roadmap</a:t>
            </a:r>
          </a:p>
          <a:p>
            <a:pPr algn="l">
              <a:lnSpc>
                <a:spcPts val="68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42800" y="4294920"/>
            <a:ext cx="6653958" cy="4382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5942" indent="-272971" lvl="1">
              <a:lnSpc>
                <a:spcPts val="3540"/>
              </a:lnSpc>
              <a:buFont typeface="Arial"/>
              <a:buChar char="•"/>
            </a:pPr>
            <a:r>
              <a:rPr lang="en-US" b="true" sz="2528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Stage 1 (The Vernacular Assistant)</a:t>
            </a:r>
            <a:r>
              <a:rPr lang="en-US" sz="2528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: Interface for multilingual onboarding and questions.</a:t>
            </a:r>
          </a:p>
          <a:p>
            <a:pPr algn="l" marL="545942" indent="-272971" lvl="1">
              <a:lnSpc>
                <a:spcPts val="3540"/>
              </a:lnSpc>
              <a:buFont typeface="Arial"/>
              <a:buChar char="•"/>
            </a:pPr>
            <a:r>
              <a:rPr lang="en-US" b="true" sz="2528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Stage 2 (The Recommendation Engine)</a:t>
            </a:r>
            <a:r>
              <a:rPr lang="en-US" sz="2528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: Signal-driven, explainable finance nudges instead of blanket advertisements.</a:t>
            </a:r>
          </a:p>
          <a:p>
            <a:pPr algn="l" marL="545942" indent="-272971" lvl="1">
              <a:lnSpc>
                <a:spcPts val="3540"/>
              </a:lnSpc>
              <a:buFont typeface="Arial"/>
              <a:buChar char="•"/>
            </a:pPr>
            <a:r>
              <a:rPr lang="en-US" b="true" sz="2528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Stage 3 (Guardrail Layer)</a:t>
            </a:r>
            <a:r>
              <a:rPr lang="en-US" sz="2528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: Supress loans for stressed users, empathy over flags.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450989" y="84481"/>
            <a:ext cx="1987578" cy="1987578"/>
          </a:xfrm>
          <a:custGeom>
            <a:avLst/>
            <a:gdLst/>
            <a:ahLst/>
            <a:cxnLst/>
            <a:rect r="r" b="b" t="t" l="l"/>
            <a:pathLst>
              <a:path h="1987578" w="1987578">
                <a:moveTo>
                  <a:pt x="0" y="0"/>
                </a:moveTo>
                <a:lnTo>
                  <a:pt x="1987579" y="0"/>
                </a:lnTo>
                <a:lnTo>
                  <a:pt x="1987579" y="1987579"/>
                </a:lnTo>
                <a:lnTo>
                  <a:pt x="0" y="19875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259300" y="8299422"/>
            <a:ext cx="1987578" cy="1987578"/>
          </a:xfrm>
          <a:custGeom>
            <a:avLst/>
            <a:gdLst/>
            <a:ahLst/>
            <a:cxnLst/>
            <a:rect r="r" b="b" t="t" l="l"/>
            <a:pathLst>
              <a:path h="1987578" w="1987578">
                <a:moveTo>
                  <a:pt x="0" y="0"/>
                </a:moveTo>
                <a:lnTo>
                  <a:pt x="1987578" y="0"/>
                </a:lnTo>
                <a:lnTo>
                  <a:pt x="1987578" y="1987578"/>
                </a:lnTo>
                <a:lnTo>
                  <a:pt x="0" y="19875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1252648" y="271891"/>
            <a:ext cx="511237" cy="511237"/>
            <a:chOff x="0" y="0"/>
            <a:chExt cx="647700" cy="647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E9984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52400" y="104775"/>
              <a:ext cx="342900" cy="39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474317" y="9585092"/>
            <a:ext cx="511237" cy="511237"/>
            <a:chOff x="0" y="0"/>
            <a:chExt cx="647700" cy="647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E9984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52400" y="104775"/>
              <a:ext cx="342900" cy="39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123828" y="444039"/>
            <a:ext cx="47470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Team Avengers HackOut’26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04414" y="360136"/>
            <a:ext cx="1987578" cy="1987578"/>
          </a:xfrm>
          <a:custGeom>
            <a:avLst/>
            <a:gdLst/>
            <a:ahLst/>
            <a:cxnLst/>
            <a:rect r="r" b="b" t="t" l="l"/>
            <a:pathLst>
              <a:path h="1987578" w="1987578">
                <a:moveTo>
                  <a:pt x="0" y="0"/>
                </a:moveTo>
                <a:lnTo>
                  <a:pt x="1987578" y="0"/>
                </a:lnTo>
                <a:lnTo>
                  <a:pt x="1987578" y="1987578"/>
                </a:lnTo>
                <a:lnTo>
                  <a:pt x="0" y="1987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935257"/>
            <a:ext cx="1987578" cy="1987578"/>
          </a:xfrm>
          <a:custGeom>
            <a:avLst/>
            <a:gdLst/>
            <a:ahLst/>
            <a:cxnLst/>
            <a:rect r="r" b="b" t="t" l="l"/>
            <a:pathLst>
              <a:path h="1987578" w="1987578">
                <a:moveTo>
                  <a:pt x="0" y="0"/>
                </a:moveTo>
                <a:lnTo>
                  <a:pt x="1987578" y="0"/>
                </a:lnTo>
                <a:lnTo>
                  <a:pt x="1987578" y="1987578"/>
                </a:lnTo>
                <a:lnTo>
                  <a:pt x="0" y="1987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01885" y="1762044"/>
            <a:ext cx="13084230" cy="6762911"/>
          </a:xfrm>
          <a:custGeom>
            <a:avLst/>
            <a:gdLst/>
            <a:ahLst/>
            <a:cxnLst/>
            <a:rect r="r" b="b" t="t" l="l"/>
            <a:pathLst>
              <a:path h="6762911" w="13084230">
                <a:moveTo>
                  <a:pt x="0" y="0"/>
                </a:moveTo>
                <a:lnTo>
                  <a:pt x="13084230" y="0"/>
                </a:lnTo>
                <a:lnTo>
                  <a:pt x="13084230" y="6762912"/>
                </a:lnTo>
                <a:lnTo>
                  <a:pt x="0" y="67629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16138" y="698627"/>
            <a:ext cx="7255724" cy="783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3"/>
              </a:lnSpc>
            </a:pPr>
            <a:r>
              <a:rPr lang="en-US" sz="5993" b="true">
                <a:solidFill>
                  <a:srgbClr val="0B0A0A"/>
                </a:solidFill>
                <a:latin typeface="TT Rounds Neue Bold"/>
                <a:ea typeface="TT Rounds Neue Bold"/>
                <a:cs typeface="TT Rounds Neue Bold"/>
                <a:sym typeface="TT Rounds Neue Bold"/>
              </a:rPr>
              <a:t>Healthy User Profile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9067" y="348107"/>
            <a:ext cx="47470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Team Avengers HackOut’26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35257"/>
            <a:ext cx="1987578" cy="1987578"/>
          </a:xfrm>
          <a:custGeom>
            <a:avLst/>
            <a:gdLst/>
            <a:ahLst/>
            <a:cxnLst/>
            <a:rect r="r" b="b" t="t" l="l"/>
            <a:pathLst>
              <a:path h="1987578" w="1987578">
                <a:moveTo>
                  <a:pt x="0" y="0"/>
                </a:moveTo>
                <a:lnTo>
                  <a:pt x="1987578" y="0"/>
                </a:lnTo>
                <a:lnTo>
                  <a:pt x="1987578" y="1987578"/>
                </a:lnTo>
                <a:lnTo>
                  <a:pt x="0" y="1987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20205" y="488809"/>
            <a:ext cx="1987578" cy="1987578"/>
          </a:xfrm>
          <a:custGeom>
            <a:avLst/>
            <a:gdLst/>
            <a:ahLst/>
            <a:cxnLst/>
            <a:rect r="r" b="b" t="t" l="l"/>
            <a:pathLst>
              <a:path h="1987578" w="1987578">
                <a:moveTo>
                  <a:pt x="0" y="0"/>
                </a:moveTo>
                <a:lnTo>
                  <a:pt x="1987578" y="0"/>
                </a:lnTo>
                <a:lnTo>
                  <a:pt x="1987578" y="1987578"/>
                </a:lnTo>
                <a:lnTo>
                  <a:pt x="0" y="1987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01885" y="1884709"/>
            <a:ext cx="13084230" cy="6517582"/>
          </a:xfrm>
          <a:custGeom>
            <a:avLst/>
            <a:gdLst/>
            <a:ahLst/>
            <a:cxnLst/>
            <a:rect r="r" b="b" t="t" l="l"/>
            <a:pathLst>
              <a:path h="6517582" w="13084230">
                <a:moveTo>
                  <a:pt x="0" y="0"/>
                </a:moveTo>
                <a:lnTo>
                  <a:pt x="13084230" y="0"/>
                </a:lnTo>
                <a:lnTo>
                  <a:pt x="13084230" y="6517582"/>
                </a:lnTo>
                <a:lnTo>
                  <a:pt x="0" y="65175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35820" y="698627"/>
            <a:ext cx="7616360" cy="783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3"/>
              </a:lnSpc>
            </a:pPr>
            <a:r>
              <a:rPr lang="en-US" sz="5993" b="true">
                <a:solidFill>
                  <a:srgbClr val="0B0A0A"/>
                </a:solidFill>
                <a:latin typeface="TT Rounds Neue Bold"/>
                <a:ea typeface="TT Rounds Neue Bold"/>
                <a:cs typeface="TT Rounds Neue Bold"/>
                <a:sym typeface="TT Rounds Neue Bold"/>
              </a:rPr>
              <a:t>Stressed User Profile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8749" y="348107"/>
            <a:ext cx="47470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Team Avengers HackOut’26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35257"/>
            <a:ext cx="1987578" cy="1987578"/>
          </a:xfrm>
          <a:custGeom>
            <a:avLst/>
            <a:gdLst/>
            <a:ahLst/>
            <a:cxnLst/>
            <a:rect r="r" b="b" t="t" l="l"/>
            <a:pathLst>
              <a:path h="1987578" w="1987578">
                <a:moveTo>
                  <a:pt x="0" y="0"/>
                </a:moveTo>
                <a:lnTo>
                  <a:pt x="1987578" y="0"/>
                </a:lnTo>
                <a:lnTo>
                  <a:pt x="1987578" y="1987578"/>
                </a:lnTo>
                <a:lnTo>
                  <a:pt x="0" y="1987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20205" y="488809"/>
            <a:ext cx="1987578" cy="1987578"/>
          </a:xfrm>
          <a:custGeom>
            <a:avLst/>
            <a:gdLst/>
            <a:ahLst/>
            <a:cxnLst/>
            <a:rect r="r" b="b" t="t" l="l"/>
            <a:pathLst>
              <a:path h="1987578" w="1987578">
                <a:moveTo>
                  <a:pt x="0" y="0"/>
                </a:moveTo>
                <a:lnTo>
                  <a:pt x="1987578" y="0"/>
                </a:lnTo>
                <a:lnTo>
                  <a:pt x="1987578" y="1987578"/>
                </a:lnTo>
                <a:lnTo>
                  <a:pt x="0" y="1987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01885" y="1794755"/>
            <a:ext cx="13084230" cy="6697490"/>
          </a:xfrm>
          <a:custGeom>
            <a:avLst/>
            <a:gdLst/>
            <a:ahLst/>
            <a:cxnLst/>
            <a:rect r="r" b="b" t="t" l="l"/>
            <a:pathLst>
              <a:path h="6697490" w="13084230">
                <a:moveTo>
                  <a:pt x="0" y="0"/>
                </a:moveTo>
                <a:lnTo>
                  <a:pt x="13084230" y="0"/>
                </a:lnTo>
                <a:lnTo>
                  <a:pt x="13084230" y="6697490"/>
                </a:lnTo>
                <a:lnTo>
                  <a:pt x="0" y="6697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04493" y="872669"/>
            <a:ext cx="9659964" cy="783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3"/>
              </a:lnSpc>
            </a:pPr>
            <a:r>
              <a:rPr lang="en-US" sz="5993" b="true">
                <a:solidFill>
                  <a:srgbClr val="0B0A0A"/>
                </a:solidFill>
                <a:latin typeface="TT Rounds Neue Bold"/>
                <a:ea typeface="TT Rounds Neue Bold"/>
                <a:cs typeface="TT Rounds Neue Bold"/>
                <a:sym typeface="TT Rounds Neue Bold"/>
              </a:rPr>
              <a:t>Possible Fraud User Profile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0713" y="262114"/>
            <a:ext cx="47470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Team Avengers HackOut’26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4696" y="-3038283"/>
            <a:ext cx="6841112" cy="7111491"/>
            <a:chOff x="0" y="0"/>
            <a:chExt cx="6108573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solidFill>
              <a:srgbClr val="06C892"/>
            </a:solidFill>
            <a:ln w="28575" cap="sq">
              <a:solidFill>
                <a:srgbClr val="00A28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2568" y="7035721"/>
            <a:ext cx="6841112" cy="6841112"/>
            <a:chOff x="0" y="0"/>
            <a:chExt cx="13716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A28E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270887" y="7035721"/>
            <a:ext cx="3604473" cy="3301698"/>
          </a:xfrm>
          <a:custGeom>
            <a:avLst/>
            <a:gdLst/>
            <a:ahLst/>
            <a:cxnLst/>
            <a:rect r="r" b="b" t="t" l="l"/>
            <a:pathLst>
              <a:path h="3301698" w="3604473">
                <a:moveTo>
                  <a:pt x="0" y="0"/>
                </a:moveTo>
                <a:lnTo>
                  <a:pt x="3604473" y="0"/>
                </a:lnTo>
                <a:lnTo>
                  <a:pt x="3604473" y="3301698"/>
                </a:lnTo>
                <a:lnTo>
                  <a:pt x="0" y="3301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64118" y="2975702"/>
            <a:ext cx="6529561" cy="176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B0A0A"/>
                </a:solidFill>
                <a:latin typeface="TT Rounds Neue Bold"/>
                <a:ea typeface="TT Rounds Neue Bold"/>
                <a:cs typeface="TT Rounds Neue Bold"/>
                <a:sym typeface="TT Rounds Neue Bold"/>
              </a:rPr>
              <a:t> Validation &amp; Performance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88401" y="4984767"/>
            <a:ext cx="7473704" cy="4265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4664" indent="-292332" lvl="1">
              <a:lnSpc>
                <a:spcPts val="3791"/>
              </a:lnSpc>
              <a:buFont typeface="Arial"/>
              <a:buChar char="•"/>
            </a:pPr>
            <a:r>
              <a:rPr lang="en-US" b="true" sz="2708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0.84 F1 Score</a:t>
            </a:r>
            <a:r>
              <a:rPr lang="en-US" sz="2708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: Performance of narration classification model.</a:t>
            </a:r>
          </a:p>
          <a:p>
            <a:pPr algn="l" marL="584664" indent="-292332" lvl="1">
              <a:lnSpc>
                <a:spcPts val="3791"/>
              </a:lnSpc>
              <a:buFont typeface="Arial"/>
              <a:buChar char="•"/>
            </a:pPr>
            <a:r>
              <a:rPr lang="en-US" b="true" sz="2708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26.4x Lift</a:t>
            </a:r>
            <a:r>
              <a:rPr lang="en-US" sz="2708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: Anomaly Detection (with 0.76 recall).</a:t>
            </a:r>
          </a:p>
          <a:p>
            <a:pPr algn="l" marL="584664" indent="-292332" lvl="1">
              <a:lnSpc>
                <a:spcPts val="3791"/>
              </a:lnSpc>
              <a:buFont typeface="Arial"/>
              <a:buChar char="•"/>
            </a:pPr>
            <a:r>
              <a:rPr lang="en-US" b="true" sz="2708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12 Languages</a:t>
            </a:r>
            <a:r>
              <a:rPr lang="en-US" sz="2708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: English, Hindi, Tamil, Marathi, etc.</a:t>
            </a:r>
          </a:p>
          <a:p>
            <a:pPr algn="l" marL="584664" indent="-292332" lvl="1">
              <a:lnSpc>
                <a:spcPts val="3791"/>
              </a:lnSpc>
              <a:buFont typeface="Arial"/>
              <a:buChar char="•"/>
            </a:pPr>
            <a:r>
              <a:rPr lang="en-US" b="true" sz="2708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178 Features</a:t>
            </a:r>
            <a:r>
              <a:rPr lang="en-US" sz="2708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: Profile, transactional, behavioral, and stress features.</a:t>
            </a:r>
          </a:p>
          <a:p>
            <a:pPr algn="l" marL="584664" indent="-292332" lvl="1">
              <a:lnSpc>
                <a:spcPts val="3791"/>
              </a:lnSpc>
              <a:buFont typeface="Arial"/>
              <a:buChar char="•"/>
            </a:pPr>
            <a:r>
              <a:rPr lang="en-US" b="true" sz="2708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Technology Stack</a:t>
            </a:r>
            <a:r>
              <a:rPr lang="en-US" sz="2708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: Python, streamlit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259300" y="3566604"/>
            <a:ext cx="1987578" cy="1987578"/>
          </a:xfrm>
          <a:custGeom>
            <a:avLst/>
            <a:gdLst/>
            <a:ahLst/>
            <a:cxnLst/>
            <a:rect r="r" b="b" t="t" l="l"/>
            <a:pathLst>
              <a:path h="1987578" w="1987578">
                <a:moveTo>
                  <a:pt x="0" y="0"/>
                </a:moveTo>
                <a:lnTo>
                  <a:pt x="1987578" y="0"/>
                </a:lnTo>
                <a:lnTo>
                  <a:pt x="1987578" y="1987578"/>
                </a:lnTo>
                <a:lnTo>
                  <a:pt x="0" y="19875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958878" y="5246799"/>
            <a:ext cx="1987578" cy="1987578"/>
          </a:xfrm>
          <a:custGeom>
            <a:avLst/>
            <a:gdLst/>
            <a:ahLst/>
            <a:cxnLst/>
            <a:rect r="r" b="b" t="t" l="l"/>
            <a:pathLst>
              <a:path h="1987578" w="1987578">
                <a:moveTo>
                  <a:pt x="0" y="0"/>
                </a:moveTo>
                <a:lnTo>
                  <a:pt x="1987578" y="0"/>
                </a:lnTo>
                <a:lnTo>
                  <a:pt x="1987578" y="1987578"/>
                </a:lnTo>
                <a:lnTo>
                  <a:pt x="0" y="19875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955605" y="517463"/>
            <a:ext cx="511237" cy="511237"/>
            <a:chOff x="0" y="0"/>
            <a:chExt cx="647700" cy="6477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E9984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52400" y="104775"/>
              <a:ext cx="342900" cy="39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514015" y="9572895"/>
            <a:ext cx="511237" cy="511237"/>
            <a:chOff x="0" y="0"/>
            <a:chExt cx="647700" cy="647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E9984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52400" y="104775"/>
              <a:ext cx="342900" cy="39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585288" y="2073469"/>
            <a:ext cx="47470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Team Avengers HackOut’26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62635" y="454400"/>
            <a:ext cx="6764529" cy="4114800"/>
            <a:chOff x="0" y="0"/>
            <a:chExt cx="1048003" cy="637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8003" cy="637490"/>
            </a:xfrm>
            <a:custGeom>
              <a:avLst/>
              <a:gdLst/>
              <a:ahLst/>
              <a:cxnLst/>
              <a:rect r="r" b="b" t="t" l="l"/>
              <a:pathLst>
                <a:path h="637490" w="1048003">
                  <a:moveTo>
                    <a:pt x="40057" y="0"/>
                  </a:moveTo>
                  <a:lnTo>
                    <a:pt x="1007946" y="0"/>
                  </a:lnTo>
                  <a:cubicBezTo>
                    <a:pt x="1018569" y="0"/>
                    <a:pt x="1028758" y="4220"/>
                    <a:pt x="1036270" y="11732"/>
                  </a:cubicBezTo>
                  <a:cubicBezTo>
                    <a:pt x="1043782" y="19245"/>
                    <a:pt x="1048003" y="29433"/>
                    <a:pt x="1048003" y="40057"/>
                  </a:cubicBezTo>
                  <a:lnTo>
                    <a:pt x="1048003" y="597433"/>
                  </a:lnTo>
                  <a:cubicBezTo>
                    <a:pt x="1048003" y="608057"/>
                    <a:pt x="1043782" y="618246"/>
                    <a:pt x="1036270" y="625758"/>
                  </a:cubicBezTo>
                  <a:cubicBezTo>
                    <a:pt x="1028758" y="633270"/>
                    <a:pt x="1018569" y="637490"/>
                    <a:pt x="1007946" y="637490"/>
                  </a:cubicBezTo>
                  <a:lnTo>
                    <a:pt x="40057" y="637490"/>
                  </a:lnTo>
                  <a:cubicBezTo>
                    <a:pt x="29433" y="637490"/>
                    <a:pt x="19245" y="633270"/>
                    <a:pt x="11732" y="625758"/>
                  </a:cubicBezTo>
                  <a:cubicBezTo>
                    <a:pt x="4220" y="618246"/>
                    <a:pt x="0" y="608057"/>
                    <a:pt x="0" y="597433"/>
                  </a:cubicBezTo>
                  <a:lnTo>
                    <a:pt x="0" y="40057"/>
                  </a:lnTo>
                  <a:cubicBezTo>
                    <a:pt x="0" y="29433"/>
                    <a:pt x="4220" y="19245"/>
                    <a:pt x="11732" y="11732"/>
                  </a:cubicBezTo>
                  <a:cubicBezTo>
                    <a:pt x="19245" y="4220"/>
                    <a:pt x="29433" y="0"/>
                    <a:pt x="40057" y="0"/>
                  </a:cubicBezTo>
                  <a:close/>
                </a:path>
              </a:pathLst>
            </a:custGeom>
            <a:blipFill>
              <a:blip r:embed="rId2"/>
              <a:stretch>
                <a:fillRect l="-1368" t="0" r="-1368" b="0"/>
              </a:stretch>
            </a:blipFill>
            <a:ln w="28575" cap="rnd">
              <a:solidFill>
                <a:srgbClr val="00A28E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544672" y="6285230"/>
            <a:ext cx="4172348" cy="2542514"/>
            <a:chOff x="0" y="0"/>
            <a:chExt cx="646406" cy="3939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6406" cy="393902"/>
            </a:xfrm>
            <a:custGeom>
              <a:avLst/>
              <a:gdLst/>
              <a:ahLst/>
              <a:cxnLst/>
              <a:rect r="r" b="b" t="t" l="l"/>
              <a:pathLst>
                <a:path h="393902" w="646406">
                  <a:moveTo>
                    <a:pt x="64944" y="0"/>
                  </a:moveTo>
                  <a:lnTo>
                    <a:pt x="581462" y="0"/>
                  </a:lnTo>
                  <a:cubicBezTo>
                    <a:pt x="598686" y="0"/>
                    <a:pt x="615205" y="6842"/>
                    <a:pt x="627384" y="19022"/>
                  </a:cubicBezTo>
                  <a:cubicBezTo>
                    <a:pt x="639564" y="31201"/>
                    <a:pt x="646406" y="47719"/>
                    <a:pt x="646406" y="64944"/>
                  </a:cubicBezTo>
                  <a:lnTo>
                    <a:pt x="646406" y="328958"/>
                  </a:lnTo>
                  <a:cubicBezTo>
                    <a:pt x="646406" y="346182"/>
                    <a:pt x="639564" y="362701"/>
                    <a:pt x="627384" y="374880"/>
                  </a:cubicBezTo>
                  <a:cubicBezTo>
                    <a:pt x="615205" y="387060"/>
                    <a:pt x="598686" y="393902"/>
                    <a:pt x="581462" y="393902"/>
                  </a:cubicBezTo>
                  <a:lnTo>
                    <a:pt x="64944" y="393902"/>
                  </a:lnTo>
                  <a:cubicBezTo>
                    <a:pt x="47719" y="393902"/>
                    <a:pt x="31201" y="387060"/>
                    <a:pt x="19022" y="374880"/>
                  </a:cubicBezTo>
                  <a:cubicBezTo>
                    <a:pt x="6842" y="362701"/>
                    <a:pt x="0" y="346182"/>
                    <a:pt x="0" y="328958"/>
                  </a:cubicBezTo>
                  <a:lnTo>
                    <a:pt x="0" y="64944"/>
                  </a:lnTo>
                  <a:cubicBezTo>
                    <a:pt x="0" y="47719"/>
                    <a:pt x="6842" y="31201"/>
                    <a:pt x="19022" y="19022"/>
                  </a:cubicBezTo>
                  <a:cubicBezTo>
                    <a:pt x="31201" y="6842"/>
                    <a:pt x="47719" y="0"/>
                    <a:pt x="64944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A28E"/>
              </a:solidFill>
              <a:prstDash val="solid"/>
              <a:round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578556" y="5397745"/>
            <a:ext cx="4272244" cy="3860555"/>
          </a:xfrm>
          <a:custGeom>
            <a:avLst/>
            <a:gdLst/>
            <a:ahLst/>
            <a:cxnLst/>
            <a:rect r="r" b="b" t="t" l="l"/>
            <a:pathLst>
              <a:path h="3860555" w="4272244">
                <a:moveTo>
                  <a:pt x="0" y="0"/>
                </a:moveTo>
                <a:lnTo>
                  <a:pt x="4272245" y="0"/>
                </a:lnTo>
                <a:lnTo>
                  <a:pt x="4272245" y="3860555"/>
                </a:lnTo>
                <a:lnTo>
                  <a:pt x="0" y="38605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024449" y="340100"/>
            <a:ext cx="1987578" cy="1987578"/>
          </a:xfrm>
          <a:custGeom>
            <a:avLst/>
            <a:gdLst/>
            <a:ahLst/>
            <a:cxnLst/>
            <a:rect r="r" b="b" t="t" l="l"/>
            <a:pathLst>
              <a:path h="1987578" w="1987578">
                <a:moveTo>
                  <a:pt x="0" y="0"/>
                </a:moveTo>
                <a:lnTo>
                  <a:pt x="1987578" y="0"/>
                </a:lnTo>
                <a:lnTo>
                  <a:pt x="1987578" y="1987578"/>
                </a:lnTo>
                <a:lnTo>
                  <a:pt x="0" y="19875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58878" y="8332249"/>
            <a:ext cx="1987578" cy="1987578"/>
          </a:xfrm>
          <a:custGeom>
            <a:avLst/>
            <a:gdLst/>
            <a:ahLst/>
            <a:cxnLst/>
            <a:rect r="r" b="b" t="t" l="l"/>
            <a:pathLst>
              <a:path h="1987578" w="1987578">
                <a:moveTo>
                  <a:pt x="0" y="0"/>
                </a:moveTo>
                <a:lnTo>
                  <a:pt x="1987578" y="0"/>
                </a:lnTo>
                <a:lnTo>
                  <a:pt x="1987578" y="1987578"/>
                </a:lnTo>
                <a:lnTo>
                  <a:pt x="0" y="19875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934133" y="9471126"/>
            <a:ext cx="511237" cy="511237"/>
            <a:chOff x="0" y="0"/>
            <a:chExt cx="647700" cy="647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E9984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52400" y="104775"/>
              <a:ext cx="342900" cy="39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067424" y="2822062"/>
            <a:ext cx="5258203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B0A0A"/>
                </a:solidFill>
                <a:latin typeface="TT Rounds Neue Bold"/>
                <a:ea typeface="TT Rounds Neue Bold"/>
                <a:cs typeface="TT Rounds Neue Bold"/>
                <a:sym typeface="TT Rounds Neue Bold"/>
              </a:rPr>
              <a:t>24/7 Access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10235" y="4691161"/>
            <a:ext cx="7781531" cy="3789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</a:p>
          <a:p>
            <a:pPr algn="l" marL="517732" indent="-258866" lvl="1">
              <a:lnSpc>
                <a:spcPts val="3357"/>
              </a:lnSpc>
              <a:buFont typeface="Arial"/>
              <a:buChar char="•"/>
            </a:pPr>
            <a:r>
              <a:rPr lang="en-US" sz="2398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Data Strategy: Synthetic Dataset(5K profiles,</a:t>
            </a:r>
            <a:r>
              <a:rPr lang="en-US" sz="2398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 1M+ transactions, 489K logs)</a:t>
            </a:r>
          </a:p>
          <a:p>
            <a:pPr algn="l" marL="517732" indent="-258866" lvl="1">
              <a:lnSpc>
                <a:spcPts val="3357"/>
              </a:lnSpc>
              <a:buFont typeface="Arial"/>
              <a:buChar char="•"/>
            </a:pPr>
            <a:r>
              <a:rPr lang="en-US" sz="2398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DPDP Act: Enforces data minimization &amp; explanation rights.</a:t>
            </a:r>
          </a:p>
          <a:p>
            <a:pPr algn="l" marL="517732" indent="-258866" lvl="1">
              <a:lnSpc>
                <a:spcPts val="3357"/>
              </a:lnSpc>
              <a:buFont typeface="Arial"/>
              <a:buChar char="•"/>
            </a:pPr>
            <a:r>
              <a:rPr lang="en-US" sz="2398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No PII: Uses customer_id only—no personal details logged.</a:t>
            </a:r>
          </a:p>
          <a:p>
            <a:pPr algn="l" marL="517732" indent="-258866" lvl="1">
              <a:lnSpc>
                <a:spcPts val="3357"/>
              </a:lnSpc>
              <a:buFont typeface="Arial"/>
              <a:buChar char="•"/>
            </a:pPr>
            <a:r>
              <a:rPr lang="en-US" sz="2398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Bias Audit: Equal performance across city tiers, occupations, and age bands.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78556" y="622935"/>
            <a:ext cx="47470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Team Avengers HackOut’26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32889" y="2224460"/>
            <a:ext cx="9646869" cy="1123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2"/>
              </a:lnSpc>
            </a:pPr>
            <a:r>
              <a:rPr lang="en-US" sz="8422" b="true">
                <a:solidFill>
                  <a:srgbClr val="0B0A0A"/>
                </a:solidFill>
                <a:latin typeface="TT Rounds Neue Bold"/>
                <a:ea typeface="TT Rounds Neue Bold"/>
                <a:cs typeface="TT Rounds Neue Bold"/>
                <a:sym typeface="TT Rounds Neue Bold"/>
              </a:rPr>
              <a:t>Thank you so much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450989" y="84481"/>
            <a:ext cx="1987578" cy="1987578"/>
          </a:xfrm>
          <a:custGeom>
            <a:avLst/>
            <a:gdLst/>
            <a:ahLst/>
            <a:cxnLst/>
            <a:rect r="r" b="b" t="t" l="l"/>
            <a:pathLst>
              <a:path h="1987578" w="1987578">
                <a:moveTo>
                  <a:pt x="0" y="0"/>
                </a:moveTo>
                <a:lnTo>
                  <a:pt x="1987579" y="0"/>
                </a:lnTo>
                <a:lnTo>
                  <a:pt x="1987579" y="1987579"/>
                </a:lnTo>
                <a:lnTo>
                  <a:pt x="0" y="19875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259300" y="8299422"/>
            <a:ext cx="1987578" cy="1987578"/>
          </a:xfrm>
          <a:custGeom>
            <a:avLst/>
            <a:gdLst/>
            <a:ahLst/>
            <a:cxnLst/>
            <a:rect r="r" b="b" t="t" l="l"/>
            <a:pathLst>
              <a:path h="1987578" w="1987578">
                <a:moveTo>
                  <a:pt x="0" y="0"/>
                </a:moveTo>
                <a:lnTo>
                  <a:pt x="1987578" y="0"/>
                </a:lnTo>
                <a:lnTo>
                  <a:pt x="1987578" y="1987578"/>
                </a:lnTo>
                <a:lnTo>
                  <a:pt x="0" y="1987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398777" y="773081"/>
            <a:ext cx="511237" cy="511237"/>
            <a:chOff x="0" y="0"/>
            <a:chExt cx="647700" cy="647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E9984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52400" y="104775"/>
              <a:ext cx="342900" cy="39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74317" y="9585092"/>
            <a:ext cx="511237" cy="511237"/>
            <a:chOff x="0" y="0"/>
            <a:chExt cx="647700" cy="647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E9984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52400" y="104775"/>
              <a:ext cx="342900" cy="39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480753" y="773081"/>
            <a:ext cx="4778547" cy="610379"/>
            <a:chOff x="0" y="0"/>
            <a:chExt cx="1258547" cy="1607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8547" cy="160758"/>
            </a:xfrm>
            <a:custGeom>
              <a:avLst/>
              <a:gdLst/>
              <a:ahLst/>
              <a:cxnLst/>
              <a:rect r="r" b="b" t="t" l="l"/>
              <a:pathLst>
                <a:path h="160758" w="1258547">
                  <a:moveTo>
                    <a:pt x="80379" y="0"/>
                  </a:moveTo>
                  <a:lnTo>
                    <a:pt x="1178168" y="0"/>
                  </a:lnTo>
                  <a:cubicBezTo>
                    <a:pt x="1199486" y="0"/>
                    <a:pt x="1219931" y="8468"/>
                    <a:pt x="1235005" y="23542"/>
                  </a:cubicBezTo>
                  <a:cubicBezTo>
                    <a:pt x="1250079" y="38616"/>
                    <a:pt x="1258547" y="59061"/>
                    <a:pt x="1258547" y="80379"/>
                  </a:cubicBezTo>
                  <a:lnTo>
                    <a:pt x="1258547" y="80379"/>
                  </a:lnTo>
                  <a:cubicBezTo>
                    <a:pt x="1258547" y="101697"/>
                    <a:pt x="1250079" y="122142"/>
                    <a:pt x="1235005" y="137216"/>
                  </a:cubicBezTo>
                  <a:cubicBezTo>
                    <a:pt x="1219931" y="152290"/>
                    <a:pt x="1199486" y="160758"/>
                    <a:pt x="1178168" y="160758"/>
                  </a:cubicBezTo>
                  <a:lnTo>
                    <a:pt x="80379" y="160758"/>
                  </a:lnTo>
                  <a:cubicBezTo>
                    <a:pt x="59061" y="160758"/>
                    <a:pt x="38616" y="152290"/>
                    <a:pt x="23542" y="137216"/>
                  </a:cubicBezTo>
                  <a:cubicBezTo>
                    <a:pt x="8468" y="122142"/>
                    <a:pt x="0" y="101697"/>
                    <a:pt x="0" y="80379"/>
                  </a:cubicBezTo>
                  <a:lnTo>
                    <a:pt x="0" y="80379"/>
                  </a:lnTo>
                  <a:cubicBezTo>
                    <a:pt x="0" y="59061"/>
                    <a:pt x="8468" y="38616"/>
                    <a:pt x="23542" y="23542"/>
                  </a:cubicBezTo>
                  <a:cubicBezTo>
                    <a:pt x="38616" y="8468"/>
                    <a:pt x="59061" y="0"/>
                    <a:pt x="80379" y="0"/>
                  </a:cubicBezTo>
                  <a:close/>
                </a:path>
              </a:pathLst>
            </a:custGeom>
            <a:solidFill>
              <a:srgbClr val="004D6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58547" cy="19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80753" y="773081"/>
            <a:ext cx="596574" cy="610379"/>
            <a:chOff x="0" y="0"/>
            <a:chExt cx="157122" cy="1607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7122" cy="160758"/>
            </a:xfrm>
            <a:custGeom>
              <a:avLst/>
              <a:gdLst/>
              <a:ahLst/>
              <a:cxnLst/>
              <a:rect r="r" b="b" t="t" l="l"/>
              <a:pathLst>
                <a:path h="160758" w="157122">
                  <a:moveTo>
                    <a:pt x="78561" y="0"/>
                  </a:moveTo>
                  <a:lnTo>
                    <a:pt x="78561" y="0"/>
                  </a:lnTo>
                  <a:cubicBezTo>
                    <a:pt x="121949" y="0"/>
                    <a:pt x="157122" y="35173"/>
                    <a:pt x="157122" y="78561"/>
                  </a:cubicBezTo>
                  <a:lnTo>
                    <a:pt x="157122" y="82197"/>
                  </a:lnTo>
                  <a:cubicBezTo>
                    <a:pt x="157122" y="125585"/>
                    <a:pt x="121949" y="160758"/>
                    <a:pt x="78561" y="160758"/>
                  </a:cubicBezTo>
                  <a:lnTo>
                    <a:pt x="78561" y="160758"/>
                  </a:lnTo>
                  <a:cubicBezTo>
                    <a:pt x="35173" y="160758"/>
                    <a:pt x="0" y="125585"/>
                    <a:pt x="0" y="82197"/>
                  </a:cubicBezTo>
                  <a:lnTo>
                    <a:pt x="0" y="78561"/>
                  </a:lnTo>
                  <a:cubicBezTo>
                    <a:pt x="0" y="35173"/>
                    <a:pt x="35173" y="0"/>
                    <a:pt x="78561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7122" cy="19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2693330" y="902349"/>
            <a:ext cx="228570" cy="333447"/>
          </a:xfrm>
          <a:custGeom>
            <a:avLst/>
            <a:gdLst/>
            <a:ahLst/>
            <a:cxnLst/>
            <a:rect r="r" b="b" t="t" l="l"/>
            <a:pathLst>
              <a:path h="333447" w="228570">
                <a:moveTo>
                  <a:pt x="0" y="0"/>
                </a:moveTo>
                <a:lnTo>
                  <a:pt x="228570" y="0"/>
                </a:lnTo>
                <a:lnTo>
                  <a:pt x="228570" y="333447"/>
                </a:lnTo>
                <a:lnTo>
                  <a:pt x="0" y="3334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382622" y="879827"/>
            <a:ext cx="367931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Team Avengers Hackout’26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2501742" y="3486786"/>
            <a:ext cx="11509164" cy="5806425"/>
          </a:xfrm>
          <a:custGeom>
            <a:avLst/>
            <a:gdLst/>
            <a:ahLst/>
            <a:cxnLst/>
            <a:rect r="r" b="b" t="t" l="l"/>
            <a:pathLst>
              <a:path h="5806425" w="11509164">
                <a:moveTo>
                  <a:pt x="0" y="0"/>
                </a:moveTo>
                <a:lnTo>
                  <a:pt x="11509164" y="0"/>
                </a:lnTo>
                <a:lnTo>
                  <a:pt x="11509164" y="5806425"/>
                </a:lnTo>
                <a:lnTo>
                  <a:pt x="0" y="5806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DAHVAzSRQiU</dc:identifier>
  <dcterms:modified xsi:type="dcterms:W3CDTF">2011-08-01T06:04:30Z</dcterms:modified>
  <cp:revision>1</cp:revision>
  <dc:title>SamriddhiAI</dc:title>
</cp:coreProperties>
</file>